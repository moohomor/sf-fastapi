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1"/>
  </p:notesMasterIdLst>
  <p:sldIdLst>
    <p:sldId id="375" r:id="rId2"/>
    <p:sldId id="381" r:id="rId3"/>
    <p:sldId id="385" r:id="rId4"/>
    <p:sldId id="386" r:id="rId5"/>
    <p:sldId id="387" r:id="rId6"/>
    <p:sldId id="388" r:id="rId7"/>
    <p:sldId id="391" r:id="rId8"/>
    <p:sldId id="392" r:id="rId9"/>
    <p:sldId id="384" r:id="rId10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3246"/>
    <a:srgbClr val="55B432"/>
    <a:srgbClr val="874BA0"/>
    <a:srgbClr val="4B6EB9"/>
    <a:srgbClr val="305DBE"/>
    <a:srgbClr val="4B93E3"/>
    <a:srgbClr val="6B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84" autoAdjust="0"/>
    <p:restoredTop sz="92430" autoAdjust="0"/>
  </p:normalViewPr>
  <p:slideViewPr>
    <p:cSldViewPr>
      <p:cViewPr>
        <p:scale>
          <a:sx n="75" d="100"/>
          <a:sy n="75" d="100"/>
        </p:scale>
        <p:origin x="1962" y="4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25.12.2025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5919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Чтобы добавить рисунок, перетащите его на заполнитель или щелкните значок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55576" y="764704"/>
            <a:ext cx="4553803" cy="496799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Gilroy SemiBold" pitchFamily="50" charset="-52"/>
              </a:rPr>
              <a:t>Защита курсового проекта</a:t>
            </a:r>
            <a:endParaRPr lang="ru-RU" sz="2800" dirty="0" smtClean="0">
              <a:solidFill>
                <a:schemeClr val="bg1"/>
              </a:solidFill>
              <a:latin typeface="Gilroy SemiBold" pitchFamily="50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930" y="2204864"/>
            <a:ext cx="4751101" cy="712242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400" dirty="0" smtClean="0"/>
              <a:t>М. А. Каргин</a:t>
            </a:r>
          </a:p>
          <a:p>
            <a:r>
              <a:rPr lang="ru-RU" sz="1400" dirty="0" smtClean="0"/>
              <a:t>А. Н. </a:t>
            </a:r>
            <a:r>
              <a:rPr lang="ru-RU" sz="1400" dirty="0" err="1" smtClean="0"/>
              <a:t>Словецких</a:t>
            </a:r>
            <a:endParaRPr lang="ru-RU" sz="1400" dirty="0" smtClean="0"/>
          </a:p>
          <a:p>
            <a:r>
              <a:rPr lang="ru-RU" sz="1400" dirty="0" smtClean="0"/>
              <a:t>Студенты Московского политехнического университета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745059"/>
            <a:ext cx="8229600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Актуальность темы исследования обусловлена стремительной трансформацией рынка цифровых развлечений. Визуальные новеллы как жанр интерактивного искусства приобретают всё большую популярность благодаря низкому порогу вхождения для авторов и высокой вовлеченности аудитории. Однако существующие программные решения зачастую требуют установки специфического ПО или сложной настройки окружения. Технология </a:t>
            </a:r>
            <a:r>
              <a:rPr lang="ru-RU" altLang="ru-RU" sz="1800" dirty="0" err="1">
                <a:cs typeface="Arial"/>
              </a:rPr>
              <a:t>Progressive</a:t>
            </a:r>
            <a:r>
              <a:rPr lang="ru-RU" altLang="ru-RU" sz="1800" dirty="0">
                <a:cs typeface="Arial"/>
              </a:rPr>
              <a:t> </a:t>
            </a:r>
            <a:r>
              <a:rPr lang="ru-RU" altLang="ru-RU" sz="1800" dirty="0" err="1">
                <a:cs typeface="Arial"/>
              </a:rPr>
              <a:t>Web</a:t>
            </a:r>
            <a:r>
              <a:rPr lang="ru-RU" altLang="ru-RU" sz="1800" dirty="0">
                <a:cs typeface="Arial"/>
              </a:rPr>
              <a:t> </a:t>
            </a:r>
            <a:r>
              <a:rPr lang="ru-RU" altLang="ru-RU" sz="1800" dirty="0" err="1">
                <a:cs typeface="Arial"/>
              </a:rPr>
              <a:t>Apps</a:t>
            </a:r>
            <a:r>
              <a:rPr lang="ru-RU" altLang="ru-RU" sz="1800" dirty="0">
                <a:cs typeface="Arial"/>
              </a:rPr>
              <a:t> (PWA) предлагает альтернативный подход, совмещая кроссплатформенность веб-технологий с производительностью </a:t>
            </a:r>
            <a:r>
              <a:rPr lang="ru-RU" altLang="ru-RU" sz="1800" dirty="0" err="1">
                <a:cs typeface="Arial"/>
              </a:rPr>
              <a:t>нативных</a:t>
            </a:r>
            <a:r>
              <a:rPr lang="ru-RU" altLang="ru-RU" sz="1800" dirty="0">
                <a:cs typeface="Arial"/>
              </a:rPr>
              <a:t> </a:t>
            </a:r>
            <a:r>
              <a:rPr lang="ru-RU" altLang="ru-RU" sz="1800" dirty="0" smtClean="0">
                <a:cs typeface="Arial"/>
              </a:rPr>
              <a:t>приложений.</a:t>
            </a: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/>
              <a:t>ВВЕДЕНИЕ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786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874BA0"/>
                </a:solidFill>
                <a:cs typeface="Arial"/>
              </a:rPr>
              <a:t>ЗАДАЧИ</a:t>
            </a:r>
            <a:endParaRPr lang="ru-RU" sz="1800" b="1" dirty="0">
              <a:solidFill>
                <a:srgbClr val="874BA0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745059"/>
            <a:ext cx="8229600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•	Провести анализ предметной области и существующих методологий разработки веб-приложений</a:t>
            </a:r>
            <a:r>
              <a:rPr lang="ru-RU" altLang="ru-RU" sz="1800" dirty="0" smtClean="0">
                <a:cs typeface="Arial"/>
              </a:rPr>
              <a:t>.</a:t>
            </a:r>
            <a:endParaRPr lang="ru-RU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•	Сформулировать технические требования к системе</a:t>
            </a:r>
            <a:r>
              <a:rPr lang="ru-RU" altLang="ru-RU" sz="1800" dirty="0" smtClean="0">
                <a:cs typeface="Arial"/>
              </a:rPr>
              <a:t>.</a:t>
            </a:r>
            <a:endParaRPr lang="ru-RU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•	Разработать серверную часть на языке </a:t>
            </a:r>
            <a:r>
              <a:rPr lang="ru-RU" altLang="ru-RU" sz="1800" dirty="0" err="1">
                <a:cs typeface="Arial"/>
              </a:rPr>
              <a:t>Python</a:t>
            </a:r>
            <a:r>
              <a:rPr lang="ru-RU" altLang="ru-RU" sz="1800" dirty="0">
                <a:cs typeface="Arial"/>
              </a:rPr>
              <a:t> с использованием асинхронного </a:t>
            </a:r>
            <a:r>
              <a:rPr lang="ru-RU" altLang="ru-RU" sz="1800" dirty="0" err="1">
                <a:cs typeface="Arial"/>
              </a:rPr>
              <a:t>фреймворка</a:t>
            </a:r>
            <a:r>
              <a:rPr lang="ru-RU" altLang="ru-RU" sz="1800" dirty="0">
                <a:cs typeface="Arial"/>
              </a:rPr>
              <a:t> </a:t>
            </a:r>
            <a:r>
              <a:rPr lang="ru-RU" altLang="ru-RU" sz="1800" dirty="0" err="1">
                <a:cs typeface="Arial"/>
              </a:rPr>
              <a:t>FastAPI</a:t>
            </a:r>
            <a:r>
              <a:rPr lang="ru-RU" altLang="ru-RU" sz="1800" dirty="0" smtClean="0">
                <a:cs typeface="Arial"/>
              </a:rPr>
              <a:t>.</a:t>
            </a:r>
            <a:endParaRPr lang="ru-RU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•	Реализовать клиентскую часть на базе </a:t>
            </a:r>
            <a:r>
              <a:rPr lang="ru-RU" altLang="ru-RU" sz="1800" dirty="0" err="1">
                <a:cs typeface="Arial"/>
              </a:rPr>
              <a:t>Vue</a:t>
            </a:r>
            <a:r>
              <a:rPr lang="ru-RU" altLang="ru-RU" sz="1800" dirty="0">
                <a:cs typeface="Arial"/>
              </a:rPr>
              <a:t> 3 с поддержкой автономного режима работы</a:t>
            </a:r>
            <a:r>
              <a:rPr lang="ru-RU" altLang="ru-RU" sz="1800" dirty="0" smtClean="0">
                <a:cs typeface="Arial"/>
              </a:rPr>
              <a:t>.</a:t>
            </a:r>
            <a:endParaRPr lang="ru-RU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•	Организовать хранение данных в реляционной СУБД и облачных сервисах.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460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55B432"/>
                </a:solidFill>
                <a:cs typeface="Arial"/>
              </a:rPr>
              <a:t>Архитектура </a:t>
            </a:r>
            <a:r>
              <a:rPr lang="en-US" sz="1800" b="1" dirty="0">
                <a:solidFill>
                  <a:srgbClr val="55B432"/>
                </a:solidFill>
                <a:cs typeface="Arial"/>
              </a:rPr>
              <a:t>Progressive Web Apps</a:t>
            </a:r>
            <a:endParaRPr lang="ru-RU" sz="1800" b="1" dirty="0">
              <a:solidFill>
                <a:srgbClr val="55B432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745059"/>
            <a:ext cx="8229600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PWA — это технология, позволяющая трансформировать веб-сайт в полноценное приложение. Ключевыми компонентами являются </a:t>
            </a:r>
            <a:r>
              <a:rPr lang="ru-RU" altLang="ru-RU" sz="1800" dirty="0" err="1">
                <a:cs typeface="Arial"/>
              </a:rPr>
              <a:t>Service</a:t>
            </a:r>
            <a:r>
              <a:rPr lang="ru-RU" altLang="ru-RU" sz="1800" dirty="0">
                <a:cs typeface="Arial"/>
              </a:rPr>
              <a:t> </a:t>
            </a:r>
            <a:r>
              <a:rPr lang="ru-RU" altLang="ru-RU" sz="1800" dirty="0" err="1">
                <a:cs typeface="Arial"/>
              </a:rPr>
              <a:t>Workers</a:t>
            </a:r>
            <a:r>
              <a:rPr lang="ru-RU" altLang="ru-RU" sz="1800" dirty="0">
                <a:cs typeface="Arial"/>
              </a:rPr>
              <a:t>, обеспечивающие кэширование ресурсов, и </a:t>
            </a:r>
            <a:r>
              <a:rPr lang="ru-RU" altLang="ru-RU" sz="1800" dirty="0" err="1">
                <a:cs typeface="Arial"/>
              </a:rPr>
              <a:t>Web</a:t>
            </a:r>
            <a:r>
              <a:rPr lang="ru-RU" altLang="ru-RU" sz="1800" dirty="0">
                <a:cs typeface="Arial"/>
              </a:rPr>
              <a:t> </a:t>
            </a:r>
            <a:r>
              <a:rPr lang="ru-RU" altLang="ru-RU" sz="1800" dirty="0" err="1">
                <a:cs typeface="Arial"/>
              </a:rPr>
              <a:t>App</a:t>
            </a:r>
            <a:r>
              <a:rPr lang="ru-RU" altLang="ru-RU" sz="1800" dirty="0">
                <a:cs typeface="Arial"/>
              </a:rPr>
              <a:t> </a:t>
            </a:r>
            <a:r>
              <a:rPr lang="ru-RU" altLang="ru-RU" sz="1800" dirty="0" err="1">
                <a:cs typeface="Arial"/>
              </a:rPr>
              <a:t>Manifest</a:t>
            </a:r>
            <a:r>
              <a:rPr lang="ru-RU" altLang="ru-RU" sz="1800" dirty="0">
                <a:cs typeface="Arial"/>
              </a:rPr>
              <a:t>, отвечающий за установку приложения на рабочий стол мобильного устройства [4]. Использование PWA в проекте «</a:t>
            </a:r>
            <a:r>
              <a:rPr lang="ru-RU" altLang="ru-RU" sz="1800" dirty="0" err="1">
                <a:cs typeface="Arial"/>
              </a:rPr>
              <a:t>StoryForge</a:t>
            </a:r>
            <a:r>
              <a:rPr lang="ru-RU" altLang="ru-RU" sz="1800" dirty="0">
                <a:cs typeface="Arial"/>
              </a:rPr>
              <a:t>» обосновано необходимостью обеспечения доступа к новеллам в условиях нестабильного </a:t>
            </a:r>
            <a:r>
              <a:rPr lang="ru-RU" altLang="ru-RU" sz="1800" dirty="0" err="1">
                <a:cs typeface="Arial"/>
              </a:rPr>
              <a:t>интернет-соединения</a:t>
            </a:r>
            <a:r>
              <a:rPr lang="ru-RU" altLang="ru-RU" sz="1800" dirty="0">
                <a:cs typeface="Arial"/>
              </a:rPr>
              <a:t>.</a:t>
            </a: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ТЕОРЕТИЧЕСКИЕ ОСНОВЫ РАЗРАБОТКИ ПРОГРАММНЫХ СИСТЕМ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74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745059"/>
            <a:ext cx="8229600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altLang="ru-RU" sz="1800" dirty="0" smtClean="0">
                <a:cs typeface="Arial"/>
              </a:rPr>
              <a:t>Python 3.12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ru-RU" sz="1800" dirty="0" err="1" smtClean="0">
                <a:cs typeface="Arial"/>
              </a:rPr>
              <a:t>FastAPI</a:t>
            </a:r>
            <a:endParaRPr lang="en-US" altLang="ru-RU" sz="1800" dirty="0" smtClean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altLang="ru-RU" sz="1800" dirty="0" err="1" smtClean="0">
                <a:cs typeface="Arial"/>
              </a:rPr>
              <a:t>Pydantic</a:t>
            </a:r>
            <a:endParaRPr lang="en-US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altLang="ru-RU" sz="1800" dirty="0">
                <a:cs typeface="Arial"/>
              </a:rPr>
              <a:t>PostgreSQL</a:t>
            </a:r>
            <a:endParaRPr lang="ru-RU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altLang="ru-RU" sz="1800" dirty="0" smtClean="0">
                <a:cs typeface="Arial"/>
              </a:rPr>
              <a:t>Vue.js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ru-RU" sz="1800" dirty="0" err="1" smtClean="0">
                <a:cs typeface="Arial"/>
              </a:rPr>
              <a:t>vite</a:t>
            </a:r>
            <a:r>
              <a:rPr lang="en-US" altLang="ru-RU" sz="1800" dirty="0" smtClean="0">
                <a:cs typeface="Arial"/>
              </a:rPr>
              <a:t>-plugin-</a:t>
            </a:r>
            <a:r>
              <a:rPr lang="en-US" altLang="ru-RU" sz="1800" dirty="0" err="1" smtClean="0">
                <a:cs typeface="Arial"/>
              </a:rPr>
              <a:t>pwa</a:t>
            </a: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РЕАЛИЗАЦИЯ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457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E63246"/>
                </a:solidFill>
                <a:cs typeface="Arial"/>
              </a:rPr>
              <a:t>СКРИНШОТЫ, ПРИМЕРЫ</a:t>
            </a:r>
            <a:endParaRPr lang="ru-RU" sz="1800" b="1" dirty="0">
              <a:solidFill>
                <a:srgbClr val="E63246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НАЗВАНИЕ РАЗДЕЛА 4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6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484784"/>
            <a:ext cx="2648404" cy="447737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795" y="1453041"/>
            <a:ext cx="2520745" cy="450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7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1196752"/>
            <a:ext cx="7419585" cy="4365099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782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127" y="1895994"/>
            <a:ext cx="6601746" cy="3934374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7379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55576" y="2266650"/>
            <a:ext cx="4751101" cy="712242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400" dirty="0"/>
              <a:t>М. А. Каргин</a:t>
            </a:r>
          </a:p>
          <a:p>
            <a:r>
              <a:rPr lang="ru-RU" sz="1400" dirty="0"/>
              <a:t>А. Н. </a:t>
            </a:r>
            <a:r>
              <a:rPr lang="ru-RU" sz="1400" dirty="0" err="1"/>
              <a:t>Словецких</a:t>
            </a:r>
            <a:endParaRPr lang="ru-RU" sz="1400" dirty="0"/>
          </a:p>
          <a:p>
            <a:r>
              <a:rPr lang="ru-RU" sz="1400" dirty="0"/>
              <a:t>Студенты Московского политехнического университета</a:t>
            </a:r>
          </a:p>
        </p:txBody>
      </p:sp>
    </p:spTree>
    <p:extLst>
      <p:ext uri="{BB962C8B-B14F-4D97-AF65-F5344CB8AC3E}">
        <p14:creationId xmlns:p14="http://schemas.microsoft.com/office/powerpoint/2010/main" val="38360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790</TotalTime>
  <Words>252</Words>
  <Application>Microsoft Office PowerPoint</Application>
  <PresentationFormat>Экран (4:3)</PresentationFormat>
  <Paragraphs>41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Gilroy</vt:lpstr>
      <vt:lpstr>Gilroy Bold</vt:lpstr>
      <vt:lpstr>Gilroy SemiBold</vt:lpstr>
      <vt:lpstr>Николаенко_ААИ-2015</vt:lpstr>
      <vt:lpstr>Презентация PowerPoint</vt:lpstr>
      <vt:lpstr>Презентация PowerPoint</vt:lpstr>
      <vt:lpstr>ЗАДАЧИ</vt:lpstr>
      <vt:lpstr>Архитектура Progressive Web Apps</vt:lpstr>
      <vt:lpstr>Презентация PowerPoint</vt:lpstr>
      <vt:lpstr>СКРИНШОТЫ, ПРИМЕРЫ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USER</cp:lastModifiedBy>
  <cp:revision>94</cp:revision>
  <cp:lastPrinted>2016-06-06T19:02:34Z</cp:lastPrinted>
  <dcterms:created xsi:type="dcterms:W3CDTF">2015-04-17T11:13:20Z</dcterms:created>
  <dcterms:modified xsi:type="dcterms:W3CDTF">2025-12-24T22:03:20Z</dcterms:modified>
</cp:coreProperties>
</file>